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rial" panose="020B0604020202020204"/>
              </a:rPr>
              <a:t>ENERGY PERFORMANCE REPORT</a:t>
            </a:r>
            <a:endParaRPr sz="15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347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9EFF"/>
                </a:solidFill>
                <a:latin typeface="Arial" panose="020B0604020202020204"/>
              </a:rPr>
              <a:t>AEON MALL – CONTAINER</a:t>
            </a:r>
            <a:endParaRPr sz="1200" b="1">
              <a:solidFill>
                <a:srgbClr val="3B9E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64008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 panose="020B0604020202020204"/>
              </a:rPr>
              <a:t>Giám sát tiêu thụ điện  • </a:t>
            </a:r>
            <a:r>
              <a:rPr lang="en-US" altLang="en-US" sz="800" b="0">
                <a:solidFill>
                  <a:srgbClr val="94A3B8"/>
                </a:solidFill>
                <a:latin typeface="Arial" panose="020B0604020202020204"/>
              </a:rPr>
              <a:t>AEON MALL-UC100-V2-Container-5090</a:t>
            </a:r>
            <a:endParaRPr lang="en-US" altLang="en-US" sz="800" b="0">
              <a:solidFill>
                <a:srgbClr val="94A3B8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 panose="020B0604020202020204"/>
              </a:rPr>
              <a:t>THỜI GIAN</a:t>
            </a:r>
            <a:endParaRPr sz="800" b="0">
              <a:solidFill>
                <a:srgbClr val="64748B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52560" y="13716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23/09/2026 00:07  →  29/09/2026 23:56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0" y="34747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 panose="020B0604020202020204"/>
              </a:rPr>
              <a:t>THỜI LƯỢNG</a:t>
            </a:r>
            <a:endParaRPr sz="800" b="0">
              <a:solidFill>
                <a:srgbClr val="64748B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52560" y="34747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167.8 giờ  •  1002 mẫu  •  chu kỳ ~10 phút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" y="841248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896112"/>
            <a:ext cx="45720" cy="484632"/>
          </a:xfrm>
          <a:prstGeom prst="rect">
            <a:avLst/>
          </a:prstGeom>
          <a:solidFill>
            <a:srgbClr val="3B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8961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 panose="020B0604020202020204"/>
              </a:rPr>
              <a:t>TIÊU THỤ</a:t>
            </a:r>
            <a:endParaRPr sz="800" b="0">
              <a:solidFill>
                <a:srgbClr val="94A3B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0624" y="109728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rial" panose="020B0604020202020204"/>
              </a:rPr>
              <a:t>119.33  kWh</a:t>
            </a:r>
            <a:endParaRPr sz="15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08960" y="841248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896112"/>
            <a:ext cx="45720" cy="4846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5264" y="8961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 panose="020B0604020202020204"/>
              </a:rPr>
              <a:t>CHI PHÍ ƯỚC TÍNH</a:t>
            </a:r>
            <a:endParaRPr sz="800" b="0">
              <a:solidFill>
                <a:srgbClr val="94A3B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55264" y="109728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rial" panose="020B0604020202020204"/>
              </a:rPr>
              <a:t>381.104  đ</a:t>
            </a:r>
            <a:endParaRPr sz="15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0" y="841248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896112"/>
            <a:ext cx="45720" cy="4846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8961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 panose="020B0604020202020204"/>
              </a:rPr>
              <a:t>TB / NGÀY</a:t>
            </a:r>
            <a:endParaRPr sz="800" b="0">
              <a:solidFill>
                <a:srgbClr val="94A3B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89904" y="109728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rial" panose="020B0604020202020204"/>
              </a:rPr>
              <a:t>17.06  kWh</a:t>
            </a:r>
            <a:endParaRPr sz="15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778240" y="841248"/>
            <a:ext cx="2697480" cy="59436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78240" y="896112"/>
            <a:ext cx="45720" cy="4846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24544" y="896112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rial" panose="020B0604020202020204"/>
              </a:rPr>
              <a:t>DATA STATUS</a:t>
            </a:r>
            <a:endParaRPr sz="800" b="0">
              <a:solidFill>
                <a:srgbClr val="94A3B8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24544" y="1097280"/>
            <a:ext cx="25146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rial" panose="020B0604020202020204"/>
              </a:rPr>
              <a:t>99.</a:t>
            </a:r>
            <a:r>
              <a:rPr lang="vi-VN" sz="1500" b="1">
                <a:solidFill>
                  <a:srgbClr val="F1F5F9"/>
                </a:solidFill>
                <a:latin typeface="Arial" panose="020B0604020202020204"/>
              </a:rPr>
              <a:t>4</a:t>
            </a:r>
            <a:r>
              <a:rPr sz="1500" b="1">
                <a:solidFill>
                  <a:srgbClr val="F1F5F9"/>
                </a:solidFill>
                <a:latin typeface="Arial" panose="020B0604020202020204"/>
              </a:rPr>
              <a:t>  %</a:t>
            </a:r>
            <a:endParaRPr sz="15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1536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1F5F9"/>
                </a:solidFill>
                <a:latin typeface="Arial" panose="020B0604020202020204"/>
              </a:rPr>
              <a:t>1. TỔNG TIÊU THỤ THEO NGÀY</a:t>
            </a:r>
            <a:endParaRPr sz="1000" b="1">
              <a:solidFill>
                <a:srgbClr val="F1F5F9"/>
              </a:solidFill>
              <a:latin typeface="Arial" panose="020B0604020202020204"/>
            </a:endParaRPr>
          </a:p>
        </p:txBody>
      </p:sp>
      <p:pic>
        <p:nvPicPr>
          <p:cNvPr id="28" name="Picture 27" descr="BAO_CAO_DIEN_chart_total_Canv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55648"/>
            <a:ext cx="7772400" cy="2148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74320" y="397763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1F5F9"/>
                </a:solidFill>
                <a:latin typeface="Arial" panose="020B0604020202020204"/>
              </a:rPr>
              <a:t>2. TỔNG TIÊU THỤ PHÂN BỐ THEO KHUNG GIỜ</a:t>
            </a:r>
            <a:endParaRPr sz="1000" b="1">
              <a:solidFill>
                <a:srgbClr val="F1F5F9"/>
              </a:solidFill>
              <a:latin typeface="Arial" panose="020B0604020202020204"/>
            </a:endParaRPr>
          </a:p>
        </p:txBody>
      </p:sp>
      <p:pic>
        <p:nvPicPr>
          <p:cNvPr id="31" name="Picture 30" descr="BAO_CAO_DIEN_chart_tariff_Can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187952"/>
            <a:ext cx="7772400" cy="21488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29600" y="15361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TỔNG DỮ LIỆU PHÂN BỐ THEO KHUNG GIỜ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229600" y="1828800"/>
            <a:ext cx="3657600" cy="310896"/>
          </a:xfrm>
          <a:prstGeom prst="roundRect">
            <a:avLst>
              <a:gd name="adj" fmla="val 8000"/>
            </a:avLst>
          </a:prstGeom>
          <a:solidFill>
            <a:srgbClr val="22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39327" y="1911095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186537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THẤP ĐIỂM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84080" y="18653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33.77 kWh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744200" y="18653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rial" panose="020B0604020202020204"/>
              </a:rPr>
              <a:t>64.771 đ</a:t>
            </a:r>
            <a:endParaRPr sz="900" b="0">
              <a:solidFill>
                <a:srgbClr val="94A3B8"/>
              </a:solidFill>
              <a:latin typeface="Arial" panose="020B060402020202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229600" y="2194560"/>
            <a:ext cx="3657600" cy="310896"/>
          </a:xfrm>
          <a:prstGeom prst="roundRect">
            <a:avLst>
              <a:gd name="adj" fmla="val 8000"/>
            </a:avLst>
          </a:prstGeom>
          <a:solidFill>
            <a:srgbClr val="22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39327" y="2276856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22311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BÌNH THƯỜNG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784080" y="22311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65.01 kWh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744200" y="22311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rial" panose="020B0604020202020204"/>
              </a:rPr>
              <a:t>204.912 đ</a:t>
            </a:r>
            <a:endParaRPr sz="900" b="0">
              <a:solidFill>
                <a:srgbClr val="94A3B8"/>
              </a:solidFill>
              <a:latin typeface="Arial" panose="020B060402020202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229600" y="2560320"/>
            <a:ext cx="3657600" cy="310896"/>
          </a:xfrm>
          <a:prstGeom prst="roundRect">
            <a:avLst>
              <a:gd name="adj" fmla="val 8000"/>
            </a:avLst>
          </a:prstGeom>
          <a:solidFill>
            <a:srgbClr val="22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39327" y="2642615"/>
            <a:ext cx="128016" cy="12801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25968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CAO ĐIỂM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84080" y="259689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20.55 kWh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44200" y="259689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rial" panose="020B0604020202020204"/>
              </a:rPr>
              <a:t>111.422 đ</a:t>
            </a:r>
            <a:endParaRPr sz="900" b="0">
              <a:solidFill>
                <a:srgbClr val="94A3B8"/>
              </a:solidFill>
              <a:latin typeface="Arial" panose="020B060402020202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229600" y="2926079"/>
            <a:ext cx="3657600" cy="329184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2971799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TỔNG TRONG MỘT TUẦN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784080" y="2971799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119.33 kWh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698480" y="2971799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4D399"/>
                </a:solidFill>
                <a:latin typeface="Arial" panose="020B0604020202020204"/>
              </a:rPr>
              <a:t>381.104 đ</a:t>
            </a:r>
            <a:endParaRPr sz="900" b="1">
              <a:solidFill>
                <a:srgbClr val="34D399"/>
              </a:solidFill>
              <a:latin typeface="Arial" panose="020B060402020202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229600" y="3310127"/>
            <a:ext cx="3657600" cy="310896"/>
          </a:xfrm>
          <a:prstGeom prst="roundRect">
            <a:avLst>
              <a:gd name="adj" fmla="val 8000"/>
            </a:avLst>
          </a:prstGeom>
          <a:solidFill>
            <a:srgbClr val="22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9327" y="3346703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rial" panose="020B0604020202020204"/>
              </a:rPr>
              <a:t>CHI PHÍ / NGÀY</a:t>
            </a:r>
            <a:endParaRPr sz="900" b="1">
              <a:solidFill>
                <a:srgbClr val="94A3B8"/>
              </a:solidFill>
              <a:latin typeface="Arial" panose="020B060402020202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98480" y="3346703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FBBF24"/>
                </a:solidFill>
                <a:latin typeface="Arial" panose="020B0604020202020204"/>
              </a:rPr>
              <a:t>54.498 đ</a:t>
            </a:r>
            <a:endParaRPr sz="9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8229600" y="3675887"/>
            <a:ext cx="3657600" cy="310896"/>
          </a:xfrm>
          <a:prstGeom prst="roundRect">
            <a:avLst>
              <a:gd name="adj" fmla="val 8000"/>
            </a:avLst>
          </a:prstGeom>
          <a:solidFill>
            <a:srgbClr val="22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9327" y="3712463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rial" panose="020B0604020202020204"/>
              </a:rPr>
              <a:t>ƯỚC TÍNH TRONG 30 NGÀY</a:t>
            </a:r>
            <a:endParaRPr sz="900" b="1">
              <a:solidFill>
                <a:srgbClr val="94A3B8"/>
              </a:solidFill>
              <a:latin typeface="Arial" panose="020B060402020202020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515600" y="3712463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4D399"/>
                </a:solidFill>
                <a:latin typeface="Arial" panose="020B0604020202020204"/>
              </a:rPr>
              <a:t>1.634.949 đ</a:t>
            </a:r>
            <a:endParaRPr sz="900" b="1">
              <a:solidFill>
                <a:srgbClr val="34D399"/>
              </a:solidFill>
              <a:latin typeface="Arial" panose="020B0604020202020204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229600" y="4114800"/>
            <a:ext cx="3657600" cy="2221865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9525">
            <a:solidFill>
              <a:srgbClr val="2A2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4187825"/>
            <a:ext cx="67754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1F5F9"/>
                </a:solidFill>
                <a:latin typeface="Arial" panose="020B0604020202020204"/>
              </a:rPr>
              <a:t>NO</a:t>
            </a:r>
            <a:r>
              <a:rPr lang="vi-VN" sz="1000" b="1">
                <a:solidFill>
                  <a:srgbClr val="F1F5F9"/>
                </a:solidFill>
                <a:latin typeface="Arial" panose="020B0604020202020204"/>
              </a:rPr>
              <a:t>T</a:t>
            </a:r>
            <a:r>
              <a:rPr sz="1000" b="1">
                <a:solidFill>
                  <a:srgbClr val="F1F5F9"/>
                </a:solidFill>
                <a:latin typeface="Arial" panose="020B0604020202020204"/>
              </a:rPr>
              <a:t>E</a:t>
            </a:r>
            <a:endParaRPr sz="10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778240" y="4206240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rial" panose="020B0604020202020204"/>
              </a:rPr>
              <a:t>·  Khung giờ &amp; công thức (QĐ 963 / 1279)</a:t>
            </a:r>
            <a:endParaRPr sz="700" b="0">
              <a:solidFill>
                <a:srgbClr val="64748B"/>
              </a:solidFill>
              <a:latin typeface="Arial" panose="020B060402020202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66760" y="4407408"/>
            <a:ext cx="3383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D3EE"/>
                </a:solidFill>
                <a:latin typeface="Arial" panose="020B0604020202020204"/>
              </a:rPr>
              <a:t>● THẤP ĐIỂM    00:00 – 06:00  ·  mọi ngày</a:t>
            </a:r>
            <a:endParaRPr sz="800" b="1">
              <a:solidFill>
                <a:srgbClr val="22D3EE"/>
              </a:solidFill>
              <a:latin typeface="Arial" panose="020B060402020202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366760" y="4590288"/>
            <a:ext cx="3383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Arial" panose="020B0604020202020204"/>
              </a:rPr>
              <a:t>● BÌNH THƯỜNG  giờ còn lại trong ngày</a:t>
            </a:r>
            <a:endParaRPr sz="800" b="1">
              <a:solidFill>
                <a:srgbClr val="A78BFA"/>
              </a:solidFill>
              <a:latin typeface="Arial" panose="020B060402020202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366760" y="4773168"/>
            <a:ext cx="3383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  <a:latin typeface="Arial" panose="020B0604020202020204"/>
              </a:rPr>
              <a:t>● CAO ĐIỂM     17:30 – 22:30  ·  T2–T7</a:t>
            </a:r>
            <a:endParaRPr sz="8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366760" y="4928616"/>
            <a:ext cx="3383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rial" panose="020B0604020202020204"/>
              </a:rPr>
              <a:t>  (Chủ nhật không áp dụng cao điểm)</a:t>
            </a:r>
            <a:endParaRPr sz="700" b="0">
              <a:solidFill>
                <a:srgbClr val="64748B"/>
              </a:solidFill>
              <a:latin typeface="Arial" panose="020B060402020202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229600" y="5390134"/>
            <a:ext cx="3383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F5F9"/>
                </a:solidFill>
                <a:latin typeface="Arial" panose="020B0604020202020204"/>
              </a:rPr>
              <a:t>CÔNG THỨC TÍNH</a:t>
            </a:r>
            <a:endParaRPr sz="9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366760" y="5554091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rial" panose="020B0604020202020204"/>
              </a:rPr>
              <a:t>Điện năng kỳ</a:t>
            </a:r>
            <a:endParaRPr sz="700" b="0">
              <a:solidFill>
                <a:srgbClr val="64748B"/>
              </a:solidFill>
              <a:latin typeface="Arial" panose="020B060402020202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66760" y="5682488"/>
            <a:ext cx="3383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1F5F9"/>
                </a:solidFill>
                <a:latin typeface="Arial" panose="020B0604020202020204"/>
              </a:rPr>
              <a:t>kWh = EPI cuối − EPI đầu</a:t>
            </a:r>
            <a:endParaRPr sz="8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366760" y="5828411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rial" panose="020B0604020202020204"/>
              </a:rPr>
              <a:t>Chi phí khung theo khung giờ</a:t>
            </a:r>
            <a:endParaRPr sz="700" b="0">
              <a:solidFill>
                <a:srgbClr val="64748B"/>
              </a:solidFill>
              <a:latin typeface="Arial" panose="020B060402020202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366760" y="5956808"/>
            <a:ext cx="3383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1F5F9"/>
                </a:solidFill>
                <a:latin typeface="Arial" panose="020B0604020202020204"/>
              </a:rPr>
              <a:t>Chi phí = kWh × đơn giá (1.918 / 3.152 / 5.422)</a:t>
            </a:r>
            <a:endParaRPr sz="800" b="1">
              <a:solidFill>
                <a:srgbClr val="F1F5F9"/>
              </a:solidFill>
              <a:latin typeface="Arial" panose="020B060402020202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74320" y="6537960"/>
            <a:ext cx="11430000" cy="19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Arial" panose="020B0604020202020204"/>
              </a:rPr>
              <a:t>Giá điện: Kinh doanh hạ áp QĐ 1279/QĐ-BCT  •  Thấp điểm 1.918</a:t>
            </a:r>
            <a:r>
              <a:rPr lang="vi-VN" sz="700" b="0">
                <a:solidFill>
                  <a:srgbClr val="64748B"/>
                </a:solidFill>
                <a:latin typeface="Arial" panose="020B0604020202020204"/>
              </a:rPr>
              <a:t> </a:t>
            </a:r>
            <a:r>
              <a:rPr sz="700">
                <a:solidFill>
                  <a:srgbClr val="64748B"/>
                </a:solidFill>
                <a:latin typeface="Arial" panose="020B0604020202020204"/>
                <a:sym typeface="+mn-ea"/>
              </a:rPr>
              <a:t>đ/kWh</a:t>
            </a:r>
            <a:r>
              <a:rPr sz="700" b="0">
                <a:solidFill>
                  <a:srgbClr val="64748B"/>
                </a:solidFill>
                <a:latin typeface="Arial" panose="020B0604020202020204"/>
              </a:rPr>
              <a:t>  |  Bình thường 3.152</a:t>
            </a:r>
            <a:r>
              <a:rPr lang="vi-VN" sz="700" b="0">
                <a:solidFill>
                  <a:srgbClr val="64748B"/>
                </a:solidFill>
                <a:latin typeface="Arial" panose="020B0604020202020204"/>
              </a:rPr>
              <a:t> </a:t>
            </a:r>
            <a:r>
              <a:rPr sz="700">
                <a:solidFill>
                  <a:srgbClr val="64748B"/>
                </a:solidFill>
                <a:latin typeface="Arial" panose="020B0604020202020204"/>
                <a:sym typeface="+mn-ea"/>
              </a:rPr>
              <a:t>đ/kWh</a:t>
            </a:r>
            <a:r>
              <a:rPr sz="700" b="0">
                <a:solidFill>
                  <a:srgbClr val="64748B"/>
                </a:solidFill>
                <a:latin typeface="Arial" panose="020B0604020202020204"/>
              </a:rPr>
              <a:t>  |  Cao điểm 5.422 đ/kWh (chưa VAT)  •  Khung giờ QĐ 963/QĐ-BCT</a:t>
            </a:r>
            <a:endParaRPr sz="700" b="0">
              <a:solidFill>
                <a:srgbClr val="64748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</Words>
  <Application>WPS Presentation</Application>
  <PresentationFormat>On-screen Show (4:3)</PresentationFormat>
  <Paragraphs>92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Cvtai Chu</cp:lastModifiedBy>
  <cp:revision>4</cp:revision>
  <dcterms:created xsi:type="dcterms:W3CDTF">2013-01-27T09:14:00Z</dcterms:created>
  <dcterms:modified xsi:type="dcterms:W3CDTF">2026-10-01T03:42:40Z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6BACB7EE6B894B5DB29F2F83012D8968_13</vt:lpwstr>
  </property>
</Properties>
</file>